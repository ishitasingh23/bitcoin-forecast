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73" r:id="rId11"/>
    <p:sldId id="264" r:id="rId12"/>
    <p:sldId id="265" r:id="rId13"/>
    <p:sldId id="266" r:id="rId14"/>
    <p:sldId id="267" r:id="rId15"/>
    <p:sldId id="268" r:id="rId16"/>
    <p:sldId id="269" r:id="rId17"/>
    <p:sldId id="272" r:id="rId18"/>
    <p:sldId id="270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497C4-F77E-6FB5-BF5B-853D5518E72E}" v="287" dt="2025-12-09T05:03:44.218"/>
    <p1510:client id="{4E43E618-3CD6-B100-78AE-5ED861589B6C}" v="4" dt="2025-12-10T05:16:12.411"/>
    <p1510:client id="{5B963885-1CC8-2D03-3102-B5ED70014BB2}" v="5" dt="2025-12-09T20:02:46.525"/>
    <p1510:client id="{8706A8B7-50DA-45E1-DFE0-9FEC5D786C37}" v="413" dt="2025-12-08T08:55:17.865"/>
    <p1510:client id="{9B4C9403-DB64-5886-7F78-3F6E154FCC59}" v="244" dt="2025-12-08T17:52:44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36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65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00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28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9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115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13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9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21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82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59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299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955" y="1390171"/>
            <a:ext cx="10284091" cy="2044462"/>
          </a:xfrm>
        </p:spPr>
        <p:txBody>
          <a:bodyPr>
            <a:noAutofit/>
          </a:bodyPr>
          <a:lstStyle/>
          <a:p>
            <a:r>
              <a:rPr lang="en-US" sz="5400" dirty="0">
                <a:latin typeface="Georgia Pro"/>
              </a:rPr>
              <a:t>ETHEREUM VOLATILITY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729" y="3632775"/>
            <a:ext cx="9515060" cy="258457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latin typeface="Georgia Pro"/>
            </a:endParaRPr>
          </a:p>
          <a:p>
            <a:r>
              <a:rPr lang="en-US" dirty="0">
                <a:latin typeface="Georgia Pro"/>
                <a:ea typeface="+mn-lt"/>
                <a:cs typeface="+mn-lt"/>
              </a:rPr>
              <a:t>STAT 429 - Time Series Analysis</a:t>
            </a:r>
            <a:r>
              <a:rPr lang="en-US" dirty="0">
                <a:latin typeface="Georgia Pro"/>
              </a:rPr>
              <a:t> </a:t>
            </a:r>
          </a:p>
          <a:p>
            <a:r>
              <a:rPr lang="en-US" dirty="0">
                <a:latin typeface="Georgia Pro"/>
                <a:ea typeface="+mn-lt"/>
                <a:cs typeface="+mn-lt"/>
              </a:rPr>
              <a:t>Prof. </a:t>
            </a:r>
            <a:r>
              <a:rPr lang="en-US" err="1">
                <a:latin typeface="Georgia Pro"/>
                <a:ea typeface="+mn-lt"/>
                <a:cs typeface="+mn-lt"/>
              </a:rPr>
              <a:t>Hyoeun</a:t>
            </a:r>
            <a:r>
              <a:rPr lang="en-US" dirty="0">
                <a:latin typeface="Georgia Pro"/>
                <a:ea typeface="+mn-lt"/>
                <a:cs typeface="+mn-lt"/>
              </a:rPr>
              <a:t> Lee</a:t>
            </a:r>
          </a:p>
          <a:p>
            <a:r>
              <a:rPr lang="en-US" dirty="0">
                <a:latin typeface="Georgia Pro"/>
                <a:ea typeface="+mn-lt"/>
                <a:cs typeface="+mn-lt"/>
              </a:rPr>
              <a:t>Presenter: </a:t>
            </a:r>
            <a:r>
              <a:rPr lang="en-US" i="1" dirty="0">
                <a:latin typeface="Georgia Pro"/>
                <a:ea typeface="+mn-lt"/>
                <a:cs typeface="+mn-lt"/>
              </a:rPr>
              <a:t>Ishita Singh</a:t>
            </a:r>
            <a:endParaRPr lang="en-US">
              <a:latin typeface="Georgia Pro"/>
              <a:ea typeface="+mn-lt"/>
              <a:cs typeface="+mn-lt"/>
            </a:endParaRP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1A161-D8D4-4B12-457F-19E67A2BA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12E2-FEC2-F6BD-76E2-C2AA5DAF3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0999"/>
            <a:ext cx="9144000" cy="694914"/>
          </a:xfrm>
        </p:spPr>
        <p:txBody>
          <a:bodyPr>
            <a:noAutofit/>
          </a:bodyPr>
          <a:lstStyle/>
          <a:p>
            <a:r>
              <a:rPr lang="en-US" sz="5400" dirty="0">
                <a:latin typeface="Georgia Pro"/>
                <a:ea typeface="+mj-lt"/>
                <a:cs typeface="+mj-lt"/>
              </a:rPr>
              <a:t>MOTIVATION</a:t>
            </a:r>
            <a:endParaRPr lang="en-US" sz="5400" dirty="0">
              <a:latin typeface="Neue Haas Grotesk Text Pro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AFCAE-3494-AD0A-2ED7-58830A5DC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889" y="2429049"/>
            <a:ext cx="10633098" cy="35755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just"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Crypto markets are highly volatile and trade 24/7.</a:t>
            </a:r>
            <a:endParaRPr lang="en-US" dirty="0"/>
          </a:p>
          <a:p>
            <a:pPr marL="285750" indent="-285750" algn="just"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Even a rough 1-week price view can help traders, analysts, and risk teams:</a:t>
            </a:r>
            <a:endParaRPr lang="en-US" dirty="0"/>
          </a:p>
          <a:p>
            <a:pPr marL="742950" lvl="1" indent="-285750" algn="just">
              <a:buFont typeface="Wingdings"/>
              <a:buChar char="Ø"/>
            </a:pPr>
            <a:r>
              <a:rPr lang="en-US" dirty="0">
                <a:ea typeface="+mn-lt"/>
                <a:cs typeface="+mn-lt"/>
              </a:rPr>
              <a:t>plan entries/exits</a:t>
            </a:r>
            <a:endParaRPr lang="en-US" dirty="0"/>
          </a:p>
          <a:p>
            <a:pPr marL="742950" lvl="1" indent="-285750" algn="just">
              <a:buFont typeface="Wingdings"/>
              <a:buChar char="Ø"/>
            </a:pPr>
            <a:r>
              <a:rPr lang="en-US" dirty="0">
                <a:ea typeface="+mn-lt"/>
                <a:cs typeface="+mn-lt"/>
              </a:rPr>
              <a:t>set stop-losses and position sizes</a:t>
            </a:r>
            <a:endParaRPr lang="en-US" dirty="0"/>
          </a:p>
          <a:p>
            <a:pPr marL="285750" indent="-285750" algn="just"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Goal: build a </a:t>
            </a:r>
            <a:r>
              <a:rPr lang="en-US" b="1" dirty="0">
                <a:ea typeface="+mn-lt"/>
                <a:cs typeface="+mn-lt"/>
              </a:rPr>
              <a:t>statistically sound, explainable</a:t>
            </a:r>
            <a:r>
              <a:rPr lang="en-US" dirty="0">
                <a:ea typeface="+mn-lt"/>
                <a:cs typeface="+mn-lt"/>
              </a:rPr>
              <a:t> forecasting pipeline.</a:t>
            </a:r>
            <a:endParaRPr lang="en-US" dirty="0"/>
          </a:p>
          <a:p>
            <a:pPr marL="285750" indent="-285750" algn="just">
              <a:buFont typeface="Wingdings"/>
              <a:buChar char="q"/>
            </a:pPr>
            <a:r>
              <a:rPr lang="en-US" dirty="0">
                <a:ea typeface="+mn-lt"/>
                <a:cs typeface="+mn-lt"/>
              </a:rPr>
              <a:t>Models used: </a:t>
            </a:r>
            <a:r>
              <a:rPr lang="en-US" b="1" dirty="0">
                <a:ea typeface="+mn-lt"/>
                <a:cs typeface="+mn-lt"/>
              </a:rPr>
              <a:t>ARIMA</a:t>
            </a:r>
            <a:r>
              <a:rPr lang="en-US" dirty="0">
                <a:ea typeface="+mn-lt"/>
                <a:cs typeface="+mn-lt"/>
              </a:rPr>
              <a:t> (trend), </a:t>
            </a:r>
            <a:r>
              <a:rPr lang="en-US" b="1" dirty="0">
                <a:ea typeface="+mn-lt"/>
                <a:cs typeface="+mn-lt"/>
              </a:rPr>
              <a:t>SARIMA</a:t>
            </a:r>
            <a:r>
              <a:rPr lang="en-US" dirty="0">
                <a:ea typeface="+mn-lt"/>
                <a:cs typeface="+mn-lt"/>
              </a:rPr>
              <a:t> (trend + weekly pattern), </a:t>
            </a:r>
            <a:r>
              <a:rPr lang="en-US" b="1" dirty="0">
                <a:ea typeface="+mn-lt"/>
                <a:cs typeface="+mn-lt"/>
              </a:rPr>
              <a:t>SARIMAX </a:t>
            </a:r>
            <a:r>
              <a:rPr lang="en-US" dirty="0">
                <a:ea typeface="+mn-lt"/>
                <a:cs typeface="+mn-lt"/>
              </a:rPr>
              <a:t>(trend + seasonality + predictors), </a:t>
            </a:r>
            <a:r>
              <a:rPr lang="en-US" b="1" dirty="0">
                <a:ea typeface="+mn-lt"/>
                <a:cs typeface="+mn-lt"/>
              </a:rPr>
              <a:t>GARCH</a:t>
            </a:r>
            <a:r>
              <a:rPr lang="en-US" dirty="0">
                <a:ea typeface="+mn-lt"/>
                <a:cs typeface="+mn-lt"/>
              </a:rPr>
              <a:t> (volatility).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742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98645-7D0D-C959-62F7-D3B155A1C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4AB5-ED03-17DD-C05E-1A893244C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7968" y="738454"/>
            <a:ext cx="12663159" cy="979937"/>
          </a:xfrm>
        </p:spPr>
        <p:txBody>
          <a:bodyPr>
            <a:noAutofit/>
          </a:bodyPr>
          <a:lstStyle/>
          <a:p>
            <a:r>
              <a:rPr lang="en-US" sz="4800" b="0" dirty="0">
                <a:latin typeface="Georgia Pro"/>
                <a:ea typeface="+mj-lt"/>
                <a:cs typeface="+mj-lt"/>
              </a:rPr>
              <a:t> </a:t>
            </a:r>
            <a:r>
              <a:rPr lang="en-US" sz="4800" dirty="0">
                <a:latin typeface="Georgia Pro"/>
                <a:ea typeface="+mj-lt"/>
                <a:cs typeface="+mj-lt"/>
              </a:rPr>
              <a:t>OBJECTIVE </a:t>
            </a:r>
            <a:endParaRPr lang="en-US" sz="4800" dirty="0">
              <a:latin typeface="Georgia Pro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29433-8C5C-8A45-3D73-031B0F4DB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9451" y="2194375"/>
            <a:ext cx="10255007" cy="38295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just">
              <a:buFont typeface="Wingdings"/>
              <a:buChar char="q"/>
            </a:pPr>
            <a:r>
              <a:rPr lang="en-US" b="1" dirty="0">
                <a:ea typeface="+mn-lt"/>
                <a:cs typeface="+mn-lt"/>
              </a:rPr>
              <a:t>Problem:</a:t>
            </a:r>
            <a:endParaRPr lang="en-US" dirty="0"/>
          </a:p>
          <a:p>
            <a:pPr marL="742950" lvl="1" indent="-285750" algn="just">
              <a:buFont typeface="Wingdings"/>
              <a:buChar char="Ø"/>
            </a:pPr>
            <a:r>
              <a:rPr lang="en-US" dirty="0">
                <a:ea typeface="+mn-lt"/>
                <a:cs typeface="+mn-lt"/>
              </a:rPr>
              <a:t>Can we reliably forecast Ethereum’s daily closing price for the next 7 days?</a:t>
            </a:r>
            <a:endParaRPr lang="en-US" dirty="0"/>
          </a:p>
          <a:p>
            <a:pPr marL="742950" lvl="1" indent="-285750" algn="just">
              <a:buFont typeface="Wingdings"/>
              <a:buChar char="Ø"/>
            </a:pPr>
            <a:r>
              <a:rPr lang="en-US" dirty="0">
                <a:ea typeface="+mn-lt"/>
                <a:cs typeface="+mn-lt"/>
              </a:rPr>
              <a:t>Can we quantify the </a:t>
            </a:r>
            <a:r>
              <a:rPr lang="en-US" b="1" dirty="0">
                <a:ea typeface="+mn-lt"/>
                <a:cs typeface="+mn-lt"/>
              </a:rPr>
              <a:t>uncertainty/volatility</a:t>
            </a:r>
            <a:r>
              <a:rPr lang="en-US" dirty="0">
                <a:ea typeface="+mn-lt"/>
                <a:cs typeface="+mn-lt"/>
              </a:rPr>
              <a:t> around those forecasts?</a:t>
            </a:r>
            <a:endParaRPr lang="en-US" dirty="0"/>
          </a:p>
          <a:p>
            <a:pPr marL="285750" indent="-285750" algn="just">
              <a:buFont typeface="Wingdings"/>
              <a:buChar char="q"/>
            </a:pPr>
            <a:r>
              <a:rPr lang="en-US" b="1" dirty="0">
                <a:ea typeface="+mn-lt"/>
                <a:cs typeface="+mn-lt"/>
              </a:rPr>
              <a:t>Objectives:</a:t>
            </a:r>
            <a:endParaRPr lang="en-US" dirty="0"/>
          </a:p>
          <a:p>
            <a:pPr marL="742950" lvl="1" indent="-285750" algn="just">
              <a:buFont typeface="Wingdings"/>
              <a:buChar char="Ø"/>
            </a:pPr>
            <a:r>
              <a:rPr lang="en-US" dirty="0">
                <a:ea typeface="+mn-lt"/>
                <a:cs typeface="+mn-lt"/>
              </a:rPr>
              <a:t>Clean and explore ETH price data.</a:t>
            </a:r>
            <a:endParaRPr lang="en-US" dirty="0"/>
          </a:p>
          <a:p>
            <a:pPr marL="742950" lvl="1" indent="-285750" algn="just">
              <a:buFont typeface="Wingdings"/>
              <a:buChar char="Ø"/>
            </a:pPr>
            <a:r>
              <a:rPr lang="en-US" dirty="0">
                <a:ea typeface="+mn-lt"/>
                <a:cs typeface="+mn-lt"/>
              </a:rPr>
              <a:t>Check and enforce </a:t>
            </a:r>
            <a:r>
              <a:rPr lang="en-US" b="1" dirty="0">
                <a:ea typeface="+mn-lt"/>
                <a:cs typeface="+mn-lt"/>
              </a:rPr>
              <a:t>stationarity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742950" lvl="1" indent="-285750" algn="just">
              <a:buFont typeface="Wingdings"/>
              <a:buChar char="Ø"/>
            </a:pPr>
            <a:r>
              <a:rPr lang="en-US" dirty="0">
                <a:ea typeface="+mn-lt"/>
                <a:cs typeface="+mn-lt"/>
              </a:rPr>
              <a:t>Fit and compare several </a:t>
            </a:r>
            <a:r>
              <a:rPr lang="en-US" b="1" dirty="0">
                <a:ea typeface="+mn-lt"/>
                <a:cs typeface="+mn-lt"/>
              </a:rPr>
              <a:t>ARIMA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SARIMA</a:t>
            </a:r>
            <a:r>
              <a:rPr lang="en-US" dirty="0">
                <a:ea typeface="+mn-lt"/>
                <a:cs typeface="+mn-lt"/>
              </a:rPr>
              <a:t> models.</a:t>
            </a:r>
            <a:endParaRPr lang="en-US" dirty="0"/>
          </a:p>
          <a:p>
            <a:pPr marL="742950" lvl="1" indent="-285750" algn="just">
              <a:buFont typeface="Wingdings"/>
              <a:buChar char="Ø"/>
            </a:pPr>
            <a:r>
              <a:rPr lang="en-US" dirty="0">
                <a:ea typeface="+mn-lt"/>
                <a:cs typeface="+mn-lt"/>
              </a:rPr>
              <a:t>Model </a:t>
            </a:r>
            <a:r>
              <a:rPr lang="en-US" b="1" dirty="0">
                <a:ea typeface="+mn-lt"/>
                <a:cs typeface="+mn-lt"/>
              </a:rPr>
              <a:t>time-varying volatility</a:t>
            </a:r>
            <a:r>
              <a:rPr lang="en-US" dirty="0">
                <a:ea typeface="+mn-lt"/>
                <a:cs typeface="+mn-lt"/>
              </a:rPr>
              <a:t> using </a:t>
            </a:r>
            <a:r>
              <a:rPr lang="en-US" b="1" dirty="0">
                <a:ea typeface="+mn-lt"/>
                <a:cs typeface="+mn-lt"/>
              </a:rPr>
              <a:t>GARCH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742950" lvl="1" indent="-285750" algn="just">
              <a:buFont typeface="Wingdings"/>
              <a:buChar char="Ø"/>
            </a:pPr>
            <a:r>
              <a:rPr lang="en-US" dirty="0">
                <a:ea typeface="+mn-lt"/>
                <a:cs typeface="+mn-lt"/>
              </a:rPr>
              <a:t>Evaluate accuracy with a fixed 7-day window and rolling windows.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1B313-4A44-7FC4-F305-2BF8950BC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3609-1D07-488F-C947-86EF1E979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6179"/>
            <a:ext cx="9144000" cy="741449"/>
          </a:xfrm>
        </p:spPr>
        <p:txBody>
          <a:bodyPr>
            <a:noAutofit/>
          </a:bodyPr>
          <a:lstStyle/>
          <a:p>
            <a:r>
              <a:rPr lang="en-US" sz="4800" dirty="0">
                <a:latin typeface="Georgia Pro"/>
                <a:ea typeface="+mj-lt"/>
                <a:cs typeface="+mj-lt"/>
              </a:rPr>
              <a:t>DATASET OVERVIEW</a:t>
            </a:r>
            <a:endParaRPr lang="en-US" sz="4800">
              <a:latin typeface="Georgia Pro"/>
            </a:endParaRPr>
          </a:p>
        </p:txBody>
      </p:sp>
      <p:pic>
        <p:nvPicPr>
          <p:cNvPr id="4" name="Picture 3" descr="A purple sign with white text&#10;&#10;AI-generated content may be incorrect.">
            <a:extLst>
              <a:ext uri="{FF2B5EF4-FFF2-40B4-BE49-F238E27FC236}">
                <a16:creationId xmlns:a16="http://schemas.microsoft.com/office/drawing/2014/main" id="{FF2A6CA6-095D-B785-FB85-C3533A483C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72" r="291" b="6837"/>
          <a:stretch>
            <a:fillRect/>
          </a:stretch>
        </p:blipFill>
        <p:spPr>
          <a:xfrm>
            <a:off x="7910509" y="1274165"/>
            <a:ext cx="3063468" cy="5366469"/>
          </a:xfrm>
          <a:prstGeom prst="rect">
            <a:avLst/>
          </a:prstGeom>
        </p:spPr>
      </p:pic>
      <p:pic>
        <p:nvPicPr>
          <p:cNvPr id="7" name="Picture 6" descr="A screenshot of a screen&#10;&#10;AI-generated content may be incorrect.">
            <a:extLst>
              <a:ext uri="{FF2B5EF4-FFF2-40B4-BE49-F238E27FC236}">
                <a16:creationId xmlns:a16="http://schemas.microsoft.com/office/drawing/2014/main" id="{D8D78414-12B8-D8A1-CDB7-1D0C0EAD78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66" r="-148" b="9262"/>
          <a:stretch>
            <a:fillRect/>
          </a:stretch>
        </p:blipFill>
        <p:spPr>
          <a:xfrm>
            <a:off x="694257" y="1105526"/>
            <a:ext cx="6687445" cy="563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4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82326-9F7B-E102-41EC-A0867463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3B4F-B685-4E9B-748E-7663CF038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257"/>
            <a:ext cx="9144000" cy="78075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Georgia Pro"/>
              </a:rPr>
              <a:t>STATISTICAL PIPELINE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BE1FD8-2C6A-81D6-C544-449D17D79F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61" r="74" b="6381"/>
          <a:stretch>
            <a:fillRect/>
          </a:stretch>
        </p:blipFill>
        <p:spPr>
          <a:xfrm>
            <a:off x="836628" y="1055558"/>
            <a:ext cx="10225195" cy="561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9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7C98-F0B4-6FC5-CB79-1588DA994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A5C6-BF89-4E16-E146-EC83B4A7C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2355"/>
            <a:ext cx="9144000" cy="78798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Georgia Pro"/>
              </a:rPr>
              <a:t>DATA PREPROCESSING</a:t>
            </a:r>
          </a:p>
        </p:txBody>
      </p:sp>
      <p:pic>
        <p:nvPicPr>
          <p:cNvPr id="5" name="Picture 4" descr="A diagram of data preparation&#10;&#10;AI-generated content may be incorrect.">
            <a:extLst>
              <a:ext uri="{FF2B5EF4-FFF2-40B4-BE49-F238E27FC236}">
                <a16:creationId xmlns:a16="http://schemas.microsoft.com/office/drawing/2014/main" id="{05FF8E78-EBD0-8CFF-4713-6C1A8278E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338" r="-58" b="7718"/>
          <a:stretch>
            <a:fillRect/>
          </a:stretch>
        </p:blipFill>
        <p:spPr>
          <a:xfrm>
            <a:off x="661585" y="1717622"/>
            <a:ext cx="10872196" cy="418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30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0A3E8-07C8-3459-4D5B-5C59FC5FA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991A-CC66-B2F6-27D2-A2E1EA0C4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247" y="434553"/>
            <a:ext cx="9144000" cy="689288"/>
          </a:xfrm>
        </p:spPr>
        <p:txBody>
          <a:bodyPr>
            <a:noAutofit/>
          </a:bodyPr>
          <a:lstStyle/>
          <a:p>
            <a:r>
              <a:rPr lang="en-US" sz="4800" dirty="0">
                <a:latin typeface="Georgia Pro"/>
              </a:rPr>
              <a:t>TIME SERIES PLOT </a:t>
            </a:r>
          </a:p>
        </p:txBody>
      </p:sp>
      <p:pic>
        <p:nvPicPr>
          <p:cNvPr id="4" name="Picture 3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1A809E9D-8C9F-F4AC-1831-FE3D1BF6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6" r="7244" b="-146"/>
          <a:stretch>
            <a:fillRect/>
          </a:stretch>
        </p:blipFill>
        <p:spPr>
          <a:xfrm>
            <a:off x="6563" y="1298289"/>
            <a:ext cx="5875639" cy="5256093"/>
          </a:xfrm>
          <a:prstGeom prst="rect">
            <a:avLst/>
          </a:prstGeom>
        </p:spPr>
      </p:pic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054FD6DF-3D5D-84A4-C655-0C7BBE42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848" r="-115" b="4831"/>
          <a:stretch>
            <a:fillRect/>
          </a:stretch>
        </p:blipFill>
        <p:spPr>
          <a:xfrm>
            <a:off x="5763103" y="1299035"/>
            <a:ext cx="6424300" cy="51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63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89EF3-65AC-0D58-2242-E2D91F59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60B8-9EBE-15FA-7F3E-99A4443A0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9511"/>
            <a:ext cx="9144000" cy="900019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Georgia Pro"/>
              </a:rPr>
              <a:t>DIFFERENCING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6A913-44A9-4F34-630C-AEAA77936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2056381"/>
            <a:ext cx="5655721" cy="3424458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dirty="0">
              <a:ea typeface="+mn-lt"/>
              <a:cs typeface="+mn-lt"/>
            </a:endParaRPr>
          </a:p>
          <a:p>
            <a:pPr marL="285750" indent="-285750" algn="l">
              <a:buFont typeface="Arial,Sans-Serif"/>
              <a:buChar char="•"/>
            </a:pPr>
            <a:r>
              <a:rPr lang="en-US" sz="2400" dirty="0">
                <a:latin typeface="Georgia Pro"/>
              </a:rPr>
              <a:t>Augmented Dickey–Fuller (ADF) test on log-prices gives </a:t>
            </a:r>
            <a:r>
              <a:rPr lang="en-US" sz="2400" b="1" dirty="0">
                <a:latin typeface="Georgia Pro"/>
              </a:rPr>
              <a:t>p-value = 0.01.</a:t>
            </a:r>
          </a:p>
          <a:p>
            <a:pPr marL="285750" indent="-285750" algn="l">
              <a:buFont typeface="Arial,Sans-Serif"/>
              <a:buChar char="•"/>
            </a:pPr>
            <a:r>
              <a:rPr lang="en-US" sz="2400" dirty="0">
                <a:latin typeface="Georgia Pro"/>
              </a:rPr>
              <a:t>Since this p-value is </a:t>
            </a:r>
            <a:r>
              <a:rPr lang="en-US" sz="2400" b="1" dirty="0">
                <a:latin typeface="Georgia Pro"/>
              </a:rPr>
              <a:t>less than 0.05</a:t>
            </a:r>
            <a:r>
              <a:rPr lang="en-US" sz="2400" dirty="0">
                <a:latin typeface="Georgia Pro"/>
              </a:rPr>
              <a:t>, we </a:t>
            </a:r>
            <a:r>
              <a:rPr lang="en-US" sz="2400" b="1" dirty="0">
                <a:latin typeface="Georgia Pro"/>
              </a:rPr>
              <a:t>accept </a:t>
            </a:r>
            <a:r>
              <a:rPr lang="en-US" sz="2400" dirty="0">
                <a:latin typeface="Georgia Pro"/>
              </a:rPr>
              <a:t> the null hypothesis so the </a:t>
            </a:r>
            <a:r>
              <a:rPr lang="en-US" sz="2400" b="1" dirty="0">
                <a:latin typeface="Georgia Pro"/>
              </a:rPr>
              <a:t>differenced log-price series is stationary</a:t>
            </a:r>
            <a:r>
              <a:rPr lang="en-US" sz="2400" dirty="0">
                <a:latin typeface="Georgia Pro"/>
              </a:rPr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04D8E-1BE3-F572-EA73-ED298EF216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7" r="1128" b="1635"/>
          <a:stretch>
            <a:fillRect/>
          </a:stretch>
        </p:blipFill>
        <p:spPr>
          <a:xfrm>
            <a:off x="297518" y="1710496"/>
            <a:ext cx="5611436" cy="454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14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43B1B-6980-730E-FE57-5C190419E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10F6-A527-06A9-040F-2B699AFC6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756" y="364561"/>
            <a:ext cx="11662671" cy="700730"/>
          </a:xfrm>
        </p:spPr>
        <p:txBody>
          <a:bodyPr/>
          <a:lstStyle/>
          <a:p>
            <a:r>
              <a:rPr lang="en-US" dirty="0">
                <a:latin typeface="Georgia Pro"/>
              </a:rPr>
              <a:t>ACF AND PACF PLOT OF TIME SERIES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A3C37F-5A01-110F-B4BE-8427F6A4E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3287" y="1504878"/>
            <a:ext cx="5312168" cy="34960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200" dirty="0">
                <a:latin typeface="Georgia Pro"/>
                <a:ea typeface="+mn-lt"/>
                <a:cs typeface="+mn-lt"/>
              </a:rPr>
              <a:t>Differenced </a:t>
            </a:r>
            <a:r>
              <a:rPr lang="en-US" sz="2200" b="1" dirty="0">
                <a:latin typeface="Georgia Pro"/>
                <a:ea typeface="+mn-lt"/>
                <a:cs typeface="+mn-lt"/>
              </a:rPr>
              <a:t>log price</a:t>
            </a:r>
            <a:r>
              <a:rPr lang="en-US" sz="2200" dirty="0">
                <a:latin typeface="Georgia Pro"/>
                <a:ea typeface="+mn-lt"/>
                <a:cs typeface="+mn-lt"/>
              </a:rPr>
              <a:t> → check dependence.</a:t>
            </a:r>
            <a:endParaRPr lang="en-US" sz="2200" dirty="0">
              <a:latin typeface="Georgia Pro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 b="1" dirty="0">
                <a:latin typeface="Georgia Pro"/>
                <a:ea typeface="+mn-lt"/>
                <a:cs typeface="+mn-lt"/>
              </a:rPr>
              <a:t>ACF</a:t>
            </a:r>
            <a:r>
              <a:rPr lang="en-US" sz="2200" dirty="0">
                <a:latin typeface="Georgia Pro"/>
                <a:ea typeface="+mn-lt"/>
                <a:cs typeface="+mn-lt"/>
              </a:rPr>
              <a:t>: big spike at lag 1, rest tiny → short-memory, MA-type.</a:t>
            </a:r>
            <a:endParaRPr lang="en-US" sz="2200" dirty="0">
              <a:latin typeface="Georgia Pro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 b="1" dirty="0">
                <a:latin typeface="Georgia Pro"/>
                <a:ea typeface="+mn-lt"/>
                <a:cs typeface="+mn-lt"/>
              </a:rPr>
              <a:t>PACF</a:t>
            </a:r>
            <a:r>
              <a:rPr lang="en-US" sz="2200" dirty="0">
                <a:latin typeface="Georgia Pro"/>
                <a:ea typeface="+mn-lt"/>
                <a:cs typeface="+mn-lt"/>
              </a:rPr>
              <a:t>: only few small spikes → low-order AR/MA .</a:t>
            </a:r>
            <a:endParaRPr lang="en-US" sz="2200" dirty="0">
              <a:latin typeface="Georgia Pro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 dirty="0">
                <a:latin typeface="Georgia Pro"/>
                <a:ea typeface="+mn-lt"/>
                <a:cs typeface="+mn-lt"/>
              </a:rPr>
              <a:t>Confirms </a:t>
            </a:r>
            <a:r>
              <a:rPr lang="en-US" sz="2200" b="1" dirty="0">
                <a:latin typeface="Georgia Pro"/>
                <a:ea typeface="+mn-lt"/>
                <a:cs typeface="+mn-lt"/>
              </a:rPr>
              <a:t>stationary differenced series</a:t>
            </a:r>
            <a:r>
              <a:rPr lang="en-US" sz="2200" dirty="0">
                <a:latin typeface="Georgia Pro"/>
                <a:ea typeface="+mn-lt"/>
                <a:cs typeface="+mn-lt"/>
              </a:rPr>
              <a:t> → suitable for ARIMA modelling.</a:t>
            </a:r>
            <a:endParaRPr lang="en-US" sz="2200" dirty="0">
              <a:latin typeface="Georgia Pro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FF8A6A-CC0A-F7C1-71AA-319A0555E3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6" r="7555"/>
          <a:stretch>
            <a:fillRect/>
          </a:stretch>
        </p:blipFill>
        <p:spPr>
          <a:xfrm>
            <a:off x="16397" y="1313989"/>
            <a:ext cx="6723008" cy="437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32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4E9F19-9AC8-C733-AABE-409560229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8FAC4-5A54-42CD-A86C-61492FCDB950}" type="datetime1">
              <a:t>12/9/2025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DE2AD-7EAD-022B-AB69-A8B8C1C18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363A0-3E8A-204C-9868-05B6751F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 dirty="0"/>
          </a:p>
        </p:txBody>
      </p:sp>
      <p:pic>
        <p:nvPicPr>
          <p:cNvPr id="5" name="Picture 4" descr="A diagram of a market analysis&#10;&#10;AI-generated content may be incorrect.">
            <a:extLst>
              <a:ext uri="{FF2B5EF4-FFF2-40B4-BE49-F238E27FC236}">
                <a16:creationId xmlns:a16="http://schemas.microsoft.com/office/drawing/2014/main" id="{925EBCB1-07E5-998D-AE53-7E241816BE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80" r="-73" b="7805"/>
          <a:stretch>
            <a:fillRect/>
          </a:stretch>
        </p:blipFill>
        <p:spPr>
          <a:xfrm>
            <a:off x="187762" y="-3271"/>
            <a:ext cx="11814715" cy="666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0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D039C-71AC-92C2-876B-4871AA88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51EB-3E5A-D053-ED81-0BA6390EB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286" y="377498"/>
            <a:ext cx="9144000" cy="681794"/>
          </a:xfrm>
        </p:spPr>
        <p:txBody>
          <a:bodyPr>
            <a:noAutofit/>
          </a:bodyPr>
          <a:lstStyle/>
          <a:p>
            <a:r>
              <a:rPr lang="en-US" sz="4400" dirty="0">
                <a:latin typeface="Georgia Pro"/>
              </a:rPr>
              <a:t>ARIMA MODELS </a:t>
            </a:r>
          </a:p>
        </p:txBody>
      </p:sp>
      <p:pic>
        <p:nvPicPr>
          <p:cNvPr id="4" name="Picture 3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781C0E65-B4BA-0420-A3E3-5539FF636F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422" b="3333"/>
          <a:stretch>
            <a:fillRect/>
          </a:stretch>
        </p:blipFill>
        <p:spPr>
          <a:xfrm>
            <a:off x="566068" y="1254020"/>
            <a:ext cx="4961010" cy="2172972"/>
          </a:xfrm>
          <a:prstGeom prst="rect">
            <a:avLst/>
          </a:prstGeom>
        </p:spPr>
      </p:pic>
      <p:pic>
        <p:nvPicPr>
          <p:cNvPr id="5" name="Picture 4" descr="A graph of a line graph&#10;&#10;AI-generated content may be incorrect.">
            <a:extLst>
              <a:ext uri="{FF2B5EF4-FFF2-40B4-BE49-F238E27FC236}">
                <a16:creationId xmlns:a16="http://schemas.microsoft.com/office/drawing/2014/main" id="{4139CF28-5B28-1BE0-C3CF-0A52656E25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6" r="4433" b="1336"/>
          <a:stretch>
            <a:fillRect/>
          </a:stretch>
        </p:blipFill>
        <p:spPr>
          <a:xfrm>
            <a:off x="142063" y="3622557"/>
            <a:ext cx="5673269" cy="2974510"/>
          </a:xfrm>
          <a:prstGeom prst="rect">
            <a:avLst/>
          </a:prstGeom>
        </p:spPr>
      </p:pic>
      <p:pic>
        <p:nvPicPr>
          <p:cNvPr id="6" name="Picture 5" descr="A screenshot of a device&#10;&#10;AI-generated content may be incorrect.">
            <a:extLst>
              <a:ext uri="{FF2B5EF4-FFF2-40B4-BE49-F238E27FC236}">
                <a16:creationId xmlns:a16="http://schemas.microsoft.com/office/drawing/2014/main" id="{644EA226-B177-D1CF-5CCB-BE1A550267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58" t="3202" r="7298" b="9412"/>
          <a:stretch>
            <a:fillRect/>
          </a:stretch>
        </p:blipFill>
        <p:spPr>
          <a:xfrm>
            <a:off x="6384716" y="1106891"/>
            <a:ext cx="5266124" cy="551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4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31C24-98D1-633D-E076-7307D9AD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22E4-C5B6-458F-F8DC-73A5DD1073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3175"/>
            <a:ext cx="9144000" cy="755984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Georgia Pro"/>
              </a:rPr>
              <a:t>SARIMA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3803B-5642-BAC6-BA86-4E722D209D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99"/>
          <a:stretch>
            <a:fillRect/>
          </a:stretch>
        </p:blipFill>
        <p:spPr>
          <a:xfrm>
            <a:off x="121636" y="1473593"/>
            <a:ext cx="6362700" cy="1730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C60AA-43F6-3D0C-89E3-2DC1AFA81F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32" b="2013"/>
          <a:stretch>
            <a:fillRect/>
          </a:stretch>
        </p:blipFill>
        <p:spPr>
          <a:xfrm>
            <a:off x="2318" y="3713282"/>
            <a:ext cx="5776377" cy="2977799"/>
          </a:xfrm>
          <a:prstGeom prst="rect">
            <a:avLst/>
          </a:prstGeom>
        </p:spPr>
      </p:pic>
      <p:pic>
        <p:nvPicPr>
          <p:cNvPr id="7" name="Picture 6" descr="A screenshot of a cell phone screen&#10;&#10;AI-generated content may be incorrect.">
            <a:extLst>
              <a:ext uri="{FF2B5EF4-FFF2-40B4-BE49-F238E27FC236}">
                <a16:creationId xmlns:a16="http://schemas.microsoft.com/office/drawing/2014/main" id="{87770691-3517-F2C1-6D4F-0624188527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62" t="21229" r="8714" b="11136"/>
          <a:stretch>
            <a:fillRect/>
          </a:stretch>
        </p:blipFill>
        <p:spPr>
          <a:xfrm>
            <a:off x="6481872" y="1139227"/>
            <a:ext cx="5560752" cy="554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96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70D43-1450-1F50-507C-BCE92CC3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A1CD-A8D8-F143-B276-0B8B10150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0017" y="194710"/>
            <a:ext cx="9144000" cy="84701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Georgia Pro"/>
              </a:rPr>
              <a:t>ARIMA/ SARIMA FORECASTS</a:t>
            </a:r>
            <a:r>
              <a:rPr lang="en-US" dirty="0"/>
              <a:t> 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7C147-DD91-B3AA-8567-425B55DB0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7123" y="5016878"/>
            <a:ext cx="4539871" cy="121391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n-US" sz="1400" dirty="0"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SARIMA forecasts track the actual ETH prices more closely, especially around daily ups and downs.</a:t>
            </a:r>
            <a:endParaRPr lang="en-US" dirty="0">
              <a:latin typeface="Georgia Pro"/>
            </a:endParaRPr>
          </a:p>
          <a:p>
            <a:pPr algn="l"/>
            <a:endParaRPr lang="en-US" dirty="0">
              <a:latin typeface="Neue Haas Grotesk Text Pro"/>
            </a:endParaRPr>
          </a:p>
          <a:p>
            <a:endParaRPr lang="en-US" dirty="0">
              <a:solidFill>
                <a:srgbClr val="000000"/>
              </a:solidFill>
              <a:latin typeface="Neue Haas Grotesk Text Pro"/>
            </a:endParaRPr>
          </a:p>
        </p:txBody>
      </p:sp>
      <p:pic>
        <p:nvPicPr>
          <p:cNvPr id="4" name="Picture 3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CBC7C68B-BEDF-FCD7-5A59-21816E15D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6" t="11428" r="121"/>
          <a:stretch>
            <a:fillRect/>
          </a:stretch>
        </p:blipFill>
        <p:spPr>
          <a:xfrm>
            <a:off x="6075162" y="1214024"/>
            <a:ext cx="5859922" cy="4074095"/>
          </a:xfrm>
          <a:prstGeom prst="rect">
            <a:avLst/>
          </a:prstGeom>
        </p:spPr>
      </p:pic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9A10A5B4-3584-DB87-07CF-EE66D547BD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72" t="7255" r="-164" b="161"/>
          <a:stretch>
            <a:fillRect/>
          </a:stretch>
        </p:blipFill>
        <p:spPr>
          <a:xfrm>
            <a:off x="-1401" y="1084867"/>
            <a:ext cx="6055147" cy="4288786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E5D463-08DF-243F-542B-7155A83EC361}"/>
              </a:ext>
            </a:extLst>
          </p:cNvPr>
          <p:cNvSpPr txBox="1">
            <a:spLocks/>
          </p:cNvSpPr>
          <p:nvPr/>
        </p:nvSpPr>
        <p:spPr>
          <a:xfrm>
            <a:off x="489619" y="5019028"/>
            <a:ext cx="4689549" cy="7524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400" dirty="0"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ARIMA forecasts are smoother and miss some short-term movements, leading to slightly higher error.</a:t>
            </a:r>
            <a:endParaRPr lang="en-US" dirty="0">
              <a:latin typeface="Georgia Pro"/>
            </a:endParaRPr>
          </a:p>
          <a:p>
            <a:pPr algn="l"/>
            <a:endParaRPr lang="en-US" dirty="0">
              <a:solidFill>
                <a:srgbClr val="000000"/>
              </a:solidFill>
              <a:latin typeface="Neue Haas Grotesk Text Pr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452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58990-8D30-C932-297E-D42653D58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E71DB-AB90-4D56-0E62-08D015A65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233" y="392784"/>
            <a:ext cx="10545535" cy="807254"/>
          </a:xfrm>
        </p:spPr>
        <p:txBody>
          <a:bodyPr>
            <a:noAutofit/>
          </a:bodyPr>
          <a:lstStyle/>
          <a:p>
            <a:r>
              <a:rPr lang="en-US" sz="4400" dirty="0">
                <a:latin typeface="Georgia Pro"/>
              </a:rPr>
              <a:t>ROLLING WINDOW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7DFB2-C92A-1BD0-7353-3F550A9B7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7094" y="1388092"/>
            <a:ext cx="4979919" cy="40725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200" dirty="0">
                <a:latin typeface="Georgia Pro"/>
                <a:ea typeface="+mn-lt"/>
                <a:cs typeface="+mn-lt"/>
              </a:rPr>
              <a:t>Rolling 7-day RMSE for </a:t>
            </a:r>
            <a:r>
              <a:rPr lang="en-US" sz="2200" b="1" dirty="0">
                <a:latin typeface="Georgia Pro"/>
                <a:ea typeface="+mn-lt"/>
                <a:cs typeface="+mn-lt"/>
              </a:rPr>
              <a:t>SARIMA best model</a:t>
            </a:r>
            <a:r>
              <a:rPr lang="en-US" sz="2200" dirty="0">
                <a:latin typeface="Georgia Pro"/>
                <a:ea typeface="+mn-lt"/>
                <a:cs typeface="+mn-lt"/>
              </a:rPr>
              <a:t> (each point = one rolling window)</a:t>
            </a:r>
            <a:endParaRPr lang="en-US" sz="2200" dirty="0">
              <a:latin typeface="Georgia Pro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 dirty="0">
                <a:latin typeface="Georgia Pro"/>
                <a:ea typeface="+mn-lt"/>
                <a:cs typeface="+mn-lt"/>
              </a:rPr>
              <a:t>Dashed line ≈ </a:t>
            </a:r>
            <a:r>
              <a:rPr lang="en-US" sz="2200" b="1" dirty="0">
                <a:latin typeface="Georgia Pro"/>
                <a:ea typeface="+mn-lt"/>
                <a:cs typeface="+mn-lt"/>
              </a:rPr>
              <a:t>average RMSE (~175 USD)</a:t>
            </a:r>
            <a:r>
              <a:rPr lang="en-US" sz="2200" dirty="0">
                <a:latin typeface="Georgia Pro"/>
                <a:ea typeface="+mn-lt"/>
                <a:cs typeface="+mn-lt"/>
              </a:rPr>
              <a:t> across all windows</a:t>
            </a:r>
            <a:endParaRPr lang="en-US" sz="2200" dirty="0">
              <a:latin typeface="Georgia Pro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 dirty="0">
                <a:latin typeface="Georgia Pro"/>
                <a:ea typeface="+mn-lt"/>
                <a:cs typeface="+mn-lt"/>
              </a:rPr>
              <a:t>Most windows: errors in </a:t>
            </a:r>
            <a:r>
              <a:rPr lang="en-US" sz="2200" b="1" dirty="0">
                <a:latin typeface="Georgia Pro"/>
                <a:ea typeface="+mn-lt"/>
                <a:cs typeface="+mn-lt"/>
              </a:rPr>
              <a:t>100–250 USD</a:t>
            </a:r>
            <a:r>
              <a:rPr lang="en-US" sz="2200" dirty="0">
                <a:latin typeface="Georgia Pro"/>
                <a:ea typeface="+mn-lt"/>
                <a:cs typeface="+mn-lt"/>
              </a:rPr>
              <a:t> range → reasonably stable performance</a:t>
            </a:r>
            <a:endParaRPr lang="en-US" sz="2200" dirty="0">
              <a:latin typeface="Georgia Pro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 dirty="0">
                <a:latin typeface="Georgia Pro"/>
                <a:ea typeface="+mn-lt"/>
                <a:cs typeface="+mn-lt"/>
              </a:rPr>
              <a:t>Few spikes &gt; </a:t>
            </a:r>
            <a:r>
              <a:rPr lang="en-US" sz="2200" b="1" dirty="0">
                <a:latin typeface="Georgia Pro"/>
                <a:ea typeface="+mn-lt"/>
                <a:cs typeface="+mn-lt"/>
              </a:rPr>
              <a:t>400–600 USD</a:t>
            </a:r>
            <a:r>
              <a:rPr lang="en-US" sz="2200" dirty="0">
                <a:latin typeface="Georgia Pro"/>
                <a:ea typeface="+mn-lt"/>
                <a:cs typeface="+mn-lt"/>
              </a:rPr>
              <a:t> → model struggles during sudden price jumps / high-volatility periods</a:t>
            </a:r>
            <a:endParaRPr lang="en-US" sz="2200" dirty="0">
              <a:latin typeface="Georgia Pro"/>
            </a:endParaRPr>
          </a:p>
          <a:p>
            <a:pPr algn="just"/>
            <a:endParaRPr lang="en-US" sz="2200" dirty="0">
              <a:latin typeface="Georgia Pr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CBA726-0508-201E-B855-DC6853229B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8" t="199" b="1823"/>
          <a:stretch>
            <a:fillRect/>
          </a:stretch>
        </p:blipFill>
        <p:spPr>
          <a:xfrm>
            <a:off x="521061" y="1738318"/>
            <a:ext cx="6446312" cy="437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64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8A005-8A71-53F1-6A37-DCCFCACC4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C50B1-E2EA-E43E-B61F-41A42BFB0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7606"/>
            <a:ext cx="9144000" cy="75799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Georgia Pro"/>
              </a:rPr>
              <a:t>GARCH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6D19A-D837-2B79-CD3C-8B83FE2F6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611" y="2025497"/>
            <a:ext cx="11133343" cy="42851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Font typeface="Wingdings"/>
              <a:buChar char="Ø"/>
            </a:pPr>
            <a:r>
              <a:rPr lang="en-US" sz="2400" dirty="0">
                <a:latin typeface="Georgia Pro"/>
                <a:ea typeface="+mn-lt"/>
                <a:cs typeface="+mn-lt"/>
              </a:rPr>
              <a:t>I fitted a basic GARCH(1,1) model on the daily log-returns to capture time-varying volatility.</a:t>
            </a:r>
            <a:endParaRPr lang="en-US" sz="2400">
              <a:latin typeface="Georgia Pro"/>
            </a:endParaRPr>
          </a:p>
          <a:p>
            <a:pPr marL="285750" indent="-285750" algn="just">
              <a:buFont typeface="Wingdings"/>
              <a:buChar char="Ø"/>
            </a:pPr>
            <a:r>
              <a:rPr lang="en-US" sz="2400" dirty="0">
                <a:latin typeface="Georgia Pro"/>
                <a:ea typeface="+mn-lt"/>
                <a:cs typeface="+mn-lt"/>
              </a:rPr>
              <a:t>The volatility parameters are highly significant and very persistent (α₁ + β₁ ≈ 0.99), meaning shocks to volatility fade slowly.</a:t>
            </a:r>
            <a:endParaRPr lang="en-US" sz="2400">
              <a:latin typeface="Georgia Pro"/>
            </a:endParaRPr>
          </a:p>
          <a:p>
            <a:pPr marL="285750" indent="-285750" algn="just">
              <a:buFont typeface="Wingdings"/>
              <a:buChar char="Ø"/>
            </a:pPr>
            <a:r>
              <a:rPr lang="en-US" sz="2400" dirty="0">
                <a:latin typeface="Georgia Pro"/>
                <a:ea typeface="+mn-lt"/>
                <a:cs typeface="+mn-lt"/>
              </a:rPr>
              <a:t>The GARCH(1,1) gives an RMSE of about </a:t>
            </a:r>
            <a:r>
              <a:rPr lang="en-US" sz="2400" b="1" dirty="0">
                <a:latin typeface="Georgia Pro"/>
                <a:ea typeface="+mn-lt"/>
                <a:cs typeface="+mn-lt"/>
              </a:rPr>
              <a:t>0.43</a:t>
            </a:r>
            <a:r>
              <a:rPr lang="en-US" sz="2400" dirty="0">
                <a:latin typeface="Georgia Pro"/>
                <a:ea typeface="+mn-lt"/>
                <a:cs typeface="+mn-lt"/>
              </a:rPr>
              <a:t> on log-price (≈ $1,330 on price), so it models volatility well but does not improve price forecasts over ARIMA/SARIMA.</a:t>
            </a:r>
            <a:endParaRPr lang="en-US" sz="2400" dirty="0">
              <a:latin typeface="Georgia Pro"/>
            </a:endParaRPr>
          </a:p>
          <a:p>
            <a:pPr marL="285750" indent="-285750" algn="l">
              <a:buFont typeface="Wingdings" panose="020B0604020202020204" pitchFamily="34" charset="0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274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6CD70-4298-9410-D685-EF6AF838B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4762-C648-1B42-9B7D-C9BDE8597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2995"/>
            <a:ext cx="9144000" cy="76471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Georgia Pro"/>
              </a:rPr>
              <a:t>SARIMAX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A5A5B-A622-6853-1284-96989B4A5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486" y="2048955"/>
            <a:ext cx="11282038" cy="32088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Font typeface="Wingdings"/>
              <a:buChar char="Ø"/>
            </a:pPr>
            <a:r>
              <a:rPr lang="en-US" sz="2200" dirty="0">
                <a:latin typeface="Georgia Pro"/>
                <a:ea typeface="+mn-lt"/>
                <a:cs typeface="+mn-lt"/>
              </a:rPr>
              <a:t>I extended the best SARIMA model to a </a:t>
            </a:r>
            <a:r>
              <a:rPr lang="en-US" sz="2200" b="1" dirty="0">
                <a:latin typeface="Georgia Pro"/>
                <a:ea typeface="+mn-lt"/>
                <a:cs typeface="+mn-lt"/>
              </a:rPr>
              <a:t>SARIMAX</a:t>
            </a:r>
            <a:r>
              <a:rPr lang="en-US" sz="2200" dirty="0">
                <a:latin typeface="Georgia Pro"/>
                <a:ea typeface="+mn-lt"/>
                <a:cs typeface="+mn-lt"/>
              </a:rPr>
              <a:t> by adding yesterday’s log-price as an extra regressor (lag-1 xt−1x_{t-1}xt−1 ).</a:t>
            </a:r>
            <a:endParaRPr lang="en-US" sz="2200">
              <a:latin typeface="Georgia Pro"/>
            </a:endParaRPr>
          </a:p>
          <a:p>
            <a:pPr marL="285750" indent="-285750" algn="just">
              <a:buFont typeface="Wingdings"/>
              <a:buChar char="Ø"/>
            </a:pPr>
            <a:r>
              <a:rPr lang="en-US" sz="2200" dirty="0">
                <a:latin typeface="Georgia Pro"/>
                <a:ea typeface="+mn-lt"/>
                <a:cs typeface="+mn-lt"/>
              </a:rPr>
              <a:t>The fitted model is </a:t>
            </a:r>
            <a:r>
              <a:rPr lang="en-US" sz="2200" b="1" dirty="0">
                <a:latin typeface="Georgia Pro"/>
                <a:ea typeface="+mn-lt"/>
                <a:cs typeface="+mn-lt"/>
              </a:rPr>
              <a:t>SARIMAX(5,1,5) × (1,0,1)_7 with exogenous lag-1 log price</a:t>
            </a:r>
            <a:r>
              <a:rPr lang="en-US" sz="2200" dirty="0">
                <a:latin typeface="Georgia Pro"/>
                <a:ea typeface="+mn-lt"/>
                <a:cs typeface="+mn-lt"/>
              </a:rPr>
              <a:t>, capturing both weekly seasonality and short-term dependence.</a:t>
            </a:r>
            <a:endParaRPr lang="en-US" sz="2200">
              <a:latin typeface="Georgia Pro"/>
            </a:endParaRPr>
          </a:p>
          <a:p>
            <a:pPr marL="285750" indent="-285750" algn="just">
              <a:buFont typeface="Wingdings"/>
              <a:buChar char="Ø"/>
            </a:pPr>
            <a:r>
              <a:rPr lang="en-US" sz="2200" dirty="0">
                <a:latin typeface="Georgia Pro"/>
                <a:ea typeface="+mn-lt"/>
                <a:cs typeface="+mn-lt"/>
              </a:rPr>
              <a:t>The exogenous coefficient on lag-1 log price is positive but not strongly significant, and the model shows a mild convergence warning, so the extra regressor does not add much new information.</a:t>
            </a:r>
            <a:endParaRPr lang="en-US" sz="2200">
              <a:latin typeface="Georgia Pro"/>
            </a:endParaRPr>
          </a:p>
          <a:p>
            <a:pPr marL="285750" indent="-285750" algn="just">
              <a:buFont typeface="Wingdings"/>
              <a:buChar char="Ø"/>
            </a:pPr>
            <a:r>
              <a:rPr lang="en-US" sz="2200" dirty="0">
                <a:latin typeface="Georgia Pro"/>
                <a:ea typeface="+mn-lt"/>
                <a:cs typeface="+mn-lt"/>
              </a:rPr>
              <a:t>The SARIMAX accuracy is </a:t>
            </a:r>
            <a:r>
              <a:rPr lang="en-US" sz="2200" b="1" dirty="0">
                <a:latin typeface="Georgia Pro"/>
                <a:ea typeface="+mn-lt"/>
                <a:cs typeface="+mn-lt"/>
              </a:rPr>
              <a:t>RMSE ≈ 0.25 on log scale (≈ $675 on price)</a:t>
            </a:r>
            <a:r>
              <a:rPr lang="en-US" sz="2200" dirty="0">
                <a:latin typeface="Georgia Pro"/>
                <a:ea typeface="+mn-lt"/>
                <a:cs typeface="+mn-lt"/>
              </a:rPr>
              <a:t>, which is similar to but not clearly better than the SARIMA-only model.</a:t>
            </a:r>
            <a:endParaRPr lang="en-US" sz="2200" dirty="0">
              <a:latin typeface="Georgia Pr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715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8A1B8-4FC6-C59A-A299-4D38E5785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E15A-8A10-2C0F-8603-A4F390DB0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8670"/>
            <a:ext cx="9144000" cy="76471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Georgia Pro"/>
              </a:rPr>
              <a:t>RESULTS</a:t>
            </a:r>
          </a:p>
        </p:txBody>
      </p:sp>
      <p:pic>
        <p:nvPicPr>
          <p:cNvPr id="7" name="Picture 6" descr="A graph with blue and green squares&#10;&#10;AI-generated content may be incorrect.">
            <a:extLst>
              <a:ext uri="{FF2B5EF4-FFF2-40B4-BE49-F238E27FC236}">
                <a16:creationId xmlns:a16="http://schemas.microsoft.com/office/drawing/2014/main" id="{6F21B902-BDC7-6F27-C5C2-8805809024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2" t="-98" r="-1044" b="6684"/>
          <a:stretch>
            <a:fillRect/>
          </a:stretch>
        </p:blipFill>
        <p:spPr>
          <a:xfrm>
            <a:off x="1121817" y="1716228"/>
            <a:ext cx="10175013" cy="46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97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9FEB0-71C6-F47B-B2ED-8576397FE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EC5C-7DB8-A332-2454-CC1FD955C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0892"/>
            <a:ext cx="9144000" cy="79961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Georgia Pro"/>
              </a:rPr>
              <a:t>CONCLUSION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463C0355-902C-A5BD-AC94-AD97AF04B5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6" t="11824" r="-85" b="5574"/>
          <a:stretch>
            <a:fillRect/>
          </a:stretch>
        </p:blipFill>
        <p:spPr>
          <a:xfrm>
            <a:off x="347328" y="1199819"/>
            <a:ext cx="11474331" cy="548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71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B074-FB09-7013-F37A-61B633C4B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078" y="2921892"/>
            <a:ext cx="6925013" cy="1015922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latin typeface="Georgia Pro"/>
              </a:rPr>
              <a:t>THANK YOU!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991E2-B90A-20E4-6B1B-C3225EDE1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05CC-39BC-4A4C-9743-856607BE01CE}" type="datetime1">
              <a:t>12/9/2025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4607A-EB5A-30EB-28AB-8EE254155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60C34-3B13-EB57-D987-8DD04950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43916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VanillaVTI</vt:lpstr>
      <vt:lpstr>ETHEREUM VOLATILITY FORECASTING</vt:lpstr>
      <vt:lpstr>MOTIVATION</vt:lpstr>
      <vt:lpstr> OBJECTIVE </vt:lpstr>
      <vt:lpstr>DATASET OVERVIEW</vt:lpstr>
      <vt:lpstr>STATISTICAL PIPELINE</vt:lpstr>
      <vt:lpstr>DATA PREPROCESSING</vt:lpstr>
      <vt:lpstr>TIME SERIES PLOT </vt:lpstr>
      <vt:lpstr>DIFFERENCING</vt:lpstr>
      <vt:lpstr>ACF AND PACF PLOT OF TIME SERIES</vt:lpstr>
      <vt:lpstr>PowerPoint Presentation</vt:lpstr>
      <vt:lpstr>ARIMA MODELS </vt:lpstr>
      <vt:lpstr>SARIMA MODELS</vt:lpstr>
      <vt:lpstr>ARIMA/ SARIMA FORECASTS  </vt:lpstr>
      <vt:lpstr>ROLLING WINDOW EVALUATION</vt:lpstr>
      <vt:lpstr>GARCH MODEL</vt:lpstr>
      <vt:lpstr>SARIMAX</vt:lpstr>
      <vt:lpstr>RESULTS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584</cp:revision>
  <dcterms:created xsi:type="dcterms:W3CDTF">2025-12-06T18:03:10Z</dcterms:created>
  <dcterms:modified xsi:type="dcterms:W3CDTF">2025-12-10T05:16:40Z</dcterms:modified>
</cp:coreProperties>
</file>